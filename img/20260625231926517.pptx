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414" r:id="rId2"/>
    <p:sldId id="421" r:id="rId3"/>
    <p:sldId id="419" r:id="rId4"/>
    <p:sldId id="422" r:id="rId5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56FECCA-75F7-41DD-B842-705C23486DF2}">
          <p14:sldIdLst>
            <p14:sldId id="414"/>
            <p14:sldId id="421"/>
            <p14:sldId id="419"/>
            <p14:sldId id="422"/>
          </p14:sldIdLst>
        </p14:section>
        <p14:section name="无标题节" id="{F840E63E-7859-4027-924B-EBA038939CBD}">
          <p14:sldIdLst/>
        </p14:section>
      </p14:sectionLst>
    </p:ex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-66" y="-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39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低压触电脱离电源方法及注意事项：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33747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 smtClean="0">
                <a:latin typeface="+mn-ea"/>
              </a:rPr>
              <a:t>、</a:t>
            </a:r>
            <a:r>
              <a:rPr lang="zh-CN" altLang="en-US" sz="2000" b="1" dirty="0">
                <a:latin typeface="+mn-ea"/>
              </a:rPr>
              <a:t>迅速切断电源：</a:t>
            </a:r>
            <a:r>
              <a:rPr lang="en-US" altLang="zh-CN" sz="2000" dirty="0">
                <a:latin typeface="+mn-ea"/>
                <a:sym typeface="+mn-ea"/>
              </a:rPr>
              <a:t>低压触电事故脱离电源方法：“拉”、“切”、“挑”、“垫”、“拽”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sym typeface="+mn-ea"/>
              </a:rPr>
              <a:t>（1）拉：电源开关在附近，拉下开关或拔掉插头，以切断电源。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sym typeface="+mn-ea"/>
              </a:rPr>
              <a:t>（2）切：用带绝缘手柄的电工钳、干燥木柄利器（刀、斧、锹等）切断电线。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sym typeface="+mn-ea"/>
              </a:rPr>
              <a:t>（3）挑：当电线搭在触电者身上或被压在身下时，可用绝缘杆、干燥的绝缘物（竹竿、硬塑料管等）为工具，挑开电线，使触电者脱离电源。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sym typeface="+mn-ea"/>
              </a:rPr>
              <a:t>（4）垫：触电者由于痉挛，手指紧握导线，或导线缠在身上，可用木板等绝缘物垫在触电者身下，使其与地绝缘，然后再设法切断电源。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sym typeface="+mn-ea"/>
              </a:rPr>
              <a:t>（5）拽：若现场无可上述绝缘物，救护者可用一只手戴上手套，站在干燥的木板上，拽触电者的衣服，使其脱离电源。</a:t>
            </a: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643485" y="3655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低压触电脱离电源方法及注意事项：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33747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2</a:t>
            </a:r>
            <a:r>
              <a:rPr lang="zh-CN" altLang="en-US" sz="2000" dirty="0" smtClean="0">
                <a:latin typeface="+mn-ea"/>
              </a:rPr>
              <a:t>、</a:t>
            </a:r>
            <a:r>
              <a:rPr lang="zh-CN" altLang="en-US" sz="2000" b="1" dirty="0" smtClean="0">
                <a:latin typeface="+mn-ea"/>
              </a:rPr>
              <a:t>安全：</a:t>
            </a:r>
            <a:r>
              <a:rPr lang="zh-CN" altLang="en-US" sz="2000" dirty="0" smtClean="0">
                <a:latin typeface="+mn-ea"/>
              </a:rPr>
              <a:t>在</a:t>
            </a:r>
            <a:r>
              <a:rPr lang="zh-CN" altLang="en-US" sz="2000" dirty="0">
                <a:latin typeface="+mn-ea"/>
              </a:rPr>
              <a:t>触电人脱离电源的同时，救护人应防止自身触电，在切断电源前，不要直接接触触电者，以免自己也触电</a:t>
            </a:r>
            <a:r>
              <a:rPr lang="zh-CN" altLang="en-US" sz="2000" dirty="0" smtClean="0">
                <a:latin typeface="+mn-ea"/>
              </a:rPr>
              <a:t>。还</a:t>
            </a:r>
            <a:r>
              <a:rPr lang="zh-CN" altLang="en-US" sz="2000" dirty="0">
                <a:latin typeface="+mn-ea"/>
              </a:rPr>
              <a:t>应防止触电人脱离电源后发生二次伤害。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3</a:t>
            </a:r>
            <a:r>
              <a:rPr lang="zh-CN" altLang="en-US" sz="2000" dirty="0" smtClean="0">
                <a:latin typeface="+mn-ea"/>
              </a:rPr>
              <a:t>、转移</a:t>
            </a:r>
            <a:r>
              <a:rPr lang="zh-CN" altLang="en-US" sz="2000" b="1" dirty="0">
                <a:latin typeface="+mn-ea"/>
              </a:rPr>
              <a:t>：</a:t>
            </a:r>
            <a:r>
              <a:rPr lang="zh-CN" altLang="en-US" sz="2000" dirty="0" smtClean="0">
                <a:latin typeface="+mn-ea"/>
              </a:rPr>
              <a:t>在</a:t>
            </a:r>
            <a:r>
              <a:rPr lang="zh-CN" altLang="en-US" sz="2000" dirty="0">
                <a:latin typeface="+mn-ea"/>
              </a:rPr>
              <a:t>确认电源已切断且周围环境安全后，尽快将触电者移离触电环境。</a:t>
            </a:r>
            <a:r>
              <a:rPr lang="zh-CN" altLang="en-US" sz="2000" dirty="0" smtClean="0">
                <a:latin typeface="+mn-ea"/>
              </a:rPr>
              <a:t>让</a:t>
            </a:r>
            <a:r>
              <a:rPr lang="zh-CN" altLang="en-US" sz="2000" dirty="0">
                <a:latin typeface="+mn-ea"/>
              </a:rPr>
              <a:t>触电</a:t>
            </a:r>
            <a:r>
              <a:rPr lang="zh-CN" altLang="en-US" sz="2000" dirty="0" smtClean="0">
                <a:latin typeface="+mn-ea"/>
              </a:rPr>
              <a:t>者在通风</a:t>
            </a:r>
            <a:r>
              <a:rPr lang="zh-CN" altLang="en-US" sz="2000" dirty="0">
                <a:latin typeface="+mn-ea"/>
              </a:rPr>
              <a:t>暖和</a:t>
            </a:r>
            <a:r>
              <a:rPr lang="zh-CN" altLang="en-US" sz="2000" dirty="0" smtClean="0">
                <a:latin typeface="+mn-ea"/>
              </a:rPr>
              <a:t>的场所</a:t>
            </a:r>
            <a:r>
              <a:rPr lang="zh-CN" altLang="en-US" sz="2000" dirty="0">
                <a:latin typeface="+mn-ea"/>
              </a:rPr>
              <a:t>静卧休息，根据触电者的身体特征，做好急救前的准备</a:t>
            </a:r>
            <a:r>
              <a:rPr lang="zh-CN" altLang="en-US" sz="2000" dirty="0" smtClean="0">
                <a:latin typeface="+mn-ea"/>
              </a:rPr>
              <a:t>工作。</a:t>
            </a:r>
            <a:endParaRPr lang="zh-CN" altLang="en-US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4</a:t>
            </a:r>
            <a:r>
              <a:rPr lang="zh-CN" altLang="en-US" sz="2000" dirty="0" smtClean="0">
                <a:latin typeface="+mn-ea"/>
              </a:rPr>
              <a:t>、</a:t>
            </a:r>
            <a:r>
              <a:rPr lang="zh-CN" altLang="en-US" sz="2000" b="1" dirty="0" smtClean="0">
                <a:latin typeface="+mn-ea"/>
              </a:rPr>
              <a:t>急救：</a:t>
            </a:r>
            <a:r>
              <a:rPr lang="zh-CN" altLang="en-US" sz="2000" dirty="0" smtClean="0">
                <a:latin typeface="+mn-ea"/>
              </a:rPr>
              <a:t>如</a:t>
            </a:r>
            <a:r>
              <a:rPr lang="zh-CN" altLang="en-US" sz="2000" dirty="0">
                <a:latin typeface="+mn-ea"/>
              </a:rPr>
              <a:t>触电人触电已出现外伤，处理外伤不应影响抢救工作</a:t>
            </a:r>
            <a:r>
              <a:rPr lang="zh-CN" altLang="en-US" sz="2000" dirty="0" smtClean="0">
                <a:latin typeface="+mn-ea"/>
              </a:rPr>
              <a:t>。</a:t>
            </a:r>
            <a:r>
              <a:rPr lang="zh-CN" altLang="en-US" sz="2000" dirty="0">
                <a:latin typeface="+mn-ea"/>
              </a:rPr>
              <a:t>急救的同时，应尽快拨打</a:t>
            </a:r>
            <a:r>
              <a:rPr lang="en-US" altLang="zh-CN" sz="2000" dirty="0">
                <a:latin typeface="+mn-ea"/>
              </a:rPr>
              <a:t>120</a:t>
            </a:r>
            <a:r>
              <a:rPr lang="zh-CN" altLang="en-US" sz="2000" dirty="0">
                <a:latin typeface="+mn-ea"/>
              </a:rPr>
              <a:t>急救电话，请求专业医疗救援。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5</a:t>
            </a:r>
            <a:r>
              <a:rPr lang="zh-CN" altLang="en-US" sz="2000" dirty="0" smtClean="0">
                <a:latin typeface="+mn-ea"/>
              </a:rPr>
              <a:t>、</a:t>
            </a:r>
            <a:r>
              <a:rPr lang="zh-CN" altLang="en-US" sz="2000" b="1" dirty="0" smtClean="0">
                <a:latin typeface="+mn-ea"/>
              </a:rPr>
              <a:t>照明：</a:t>
            </a:r>
            <a:r>
              <a:rPr lang="zh-CN" altLang="en-US" sz="2000" dirty="0" smtClean="0">
                <a:latin typeface="+mn-ea"/>
              </a:rPr>
              <a:t>夜间</a:t>
            </a:r>
            <a:r>
              <a:rPr lang="zh-CN" altLang="en-US" sz="2000" dirty="0">
                <a:latin typeface="+mn-ea"/>
              </a:rPr>
              <a:t>有人触电，急救时应解决临时照明问题。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643485" y="3655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高压触电脱离电源方法及注意事项：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4999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1</a:t>
            </a:r>
            <a:r>
              <a:rPr lang="zh-CN" altLang="en-US" sz="2000" dirty="0" smtClean="0"/>
              <a:t>、</a:t>
            </a:r>
            <a:r>
              <a:rPr lang="zh-CN" altLang="en-US" sz="2000" b="1" dirty="0"/>
              <a:t>迅速切断电源：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（1</a:t>
            </a:r>
            <a:r>
              <a:rPr lang="zh-CN" altLang="en-US" sz="2000" dirty="0" smtClean="0"/>
              <a:t>）</a:t>
            </a:r>
            <a:r>
              <a:rPr lang="zh-CN" altLang="en-US" sz="2000" dirty="0" smtClean="0"/>
              <a:t>打：</a:t>
            </a:r>
            <a:r>
              <a:rPr lang="zh-CN" altLang="en-US" sz="2000" dirty="0" smtClean="0"/>
              <a:t>立即</a:t>
            </a:r>
            <a:r>
              <a:rPr lang="zh-CN" altLang="en-US" sz="2000" dirty="0" smtClean="0"/>
              <a:t>通知有关供电部门或用户拉闸断电。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（2</a:t>
            </a:r>
            <a:r>
              <a:rPr lang="zh-CN" altLang="en-US" sz="2000" dirty="0" smtClean="0"/>
              <a:t>）拉：若</a:t>
            </a:r>
            <a:r>
              <a:rPr lang="zh-CN" altLang="en-US" sz="2000" dirty="0" smtClean="0"/>
              <a:t>电源开关离触电现场不远，带上相应电压等级绝缘手套，穿上绝缘鞋，拉开高压断路器或用绝缘棒拉开高压熔断器。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（3</a:t>
            </a:r>
            <a:r>
              <a:rPr lang="zh-CN" altLang="en-US" sz="2000" dirty="0" smtClean="0"/>
              <a:t>）</a:t>
            </a:r>
            <a:r>
              <a:rPr lang="zh-CN" altLang="en-US" sz="2000" dirty="0" smtClean="0"/>
              <a:t>挑：</a:t>
            </a:r>
            <a:r>
              <a:rPr lang="zh-CN" altLang="en-US" sz="2000" dirty="0" smtClean="0"/>
              <a:t>带</a:t>
            </a:r>
            <a:r>
              <a:rPr lang="zh-CN" altLang="en-US" sz="2000" dirty="0" smtClean="0"/>
              <a:t>上绝缘手套，穿上绝缘鞋，用高压绝缘杆挑开触电者身上的电线。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（4</a:t>
            </a:r>
            <a:r>
              <a:rPr lang="zh-CN" altLang="en-US" sz="2000" dirty="0" smtClean="0"/>
              <a:t>）抛：抛掷</a:t>
            </a:r>
            <a:r>
              <a:rPr lang="zh-CN" altLang="en-US" sz="2000" dirty="0" smtClean="0"/>
              <a:t>裸金属线使线路短路接地，迫使保护装置动作，断开电源。</a:t>
            </a:r>
            <a:endParaRPr lang="en-US" altLang="zh-CN" sz="2000" dirty="0" smtClean="0"/>
          </a:p>
          <a:p>
            <a:pPr marL="0" indent="0">
              <a:lnSpc>
                <a:spcPct val="150000"/>
              </a:lnSpc>
              <a:buNone/>
            </a:pPr>
            <a:endParaRPr lang="zh-CN" altLang="en-US" sz="2000" dirty="0" smtClean="0"/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高压触电脱离电源方法及注意事项：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4999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/>
              <a:t>2</a:t>
            </a:r>
            <a:r>
              <a:rPr lang="zh-CN" altLang="en-US" sz="2000" dirty="0" smtClean="0"/>
              <a:t>、</a:t>
            </a:r>
            <a:r>
              <a:rPr lang="zh-CN" altLang="en-US" sz="2000" b="1" dirty="0" smtClean="0">
                <a:latin typeface="+mn-ea"/>
                <a:sym typeface="+mn-ea"/>
              </a:rPr>
              <a:t>安全：</a:t>
            </a:r>
            <a:r>
              <a:rPr lang="zh-CN" altLang="en-US" sz="2000" dirty="0" smtClean="0">
                <a:latin typeface="+mn-ea"/>
                <a:sym typeface="+mn-ea"/>
              </a:rPr>
              <a:t>在</a:t>
            </a:r>
            <a:r>
              <a:rPr lang="zh-CN" altLang="en-US" sz="2000" dirty="0">
                <a:latin typeface="+mn-ea"/>
                <a:sym typeface="+mn-ea"/>
              </a:rPr>
              <a:t>触电人脱离电源的同时，救护人应防止自身触电，在切断电源前，不要直接接触触电者，以免自己也触电</a:t>
            </a:r>
            <a:r>
              <a:rPr lang="zh-CN" altLang="en-US" sz="2000" dirty="0" smtClean="0">
                <a:latin typeface="+mn-ea"/>
                <a:sym typeface="+mn-ea"/>
              </a:rPr>
              <a:t>。还</a:t>
            </a:r>
            <a:r>
              <a:rPr lang="zh-CN" altLang="en-US" sz="2000" dirty="0">
                <a:latin typeface="+mn-ea"/>
                <a:sym typeface="+mn-ea"/>
              </a:rPr>
              <a:t>应防止触电人脱离电源后发生二次伤害。</a:t>
            </a:r>
            <a:endParaRPr lang="zh-CN" altLang="en-US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sym typeface="+mn-ea"/>
              </a:rPr>
              <a:t>3</a:t>
            </a:r>
            <a:r>
              <a:rPr lang="zh-CN" altLang="en-US" sz="2000" dirty="0" smtClean="0">
                <a:latin typeface="+mn-ea"/>
                <a:sym typeface="+mn-ea"/>
              </a:rPr>
              <a:t>、</a:t>
            </a:r>
            <a:r>
              <a:rPr lang="zh-CN" altLang="en-US" sz="2000" b="1" dirty="0">
                <a:latin typeface="+mn-ea"/>
                <a:sym typeface="+mn-ea"/>
              </a:rPr>
              <a:t>转移：</a:t>
            </a:r>
            <a:r>
              <a:rPr lang="zh-CN" altLang="en-US" sz="2000" dirty="0" smtClean="0">
                <a:latin typeface="+mn-ea"/>
                <a:sym typeface="+mn-ea"/>
              </a:rPr>
              <a:t>在</a:t>
            </a:r>
            <a:r>
              <a:rPr lang="zh-CN" altLang="en-US" sz="2000" dirty="0">
                <a:latin typeface="+mn-ea"/>
                <a:sym typeface="+mn-ea"/>
              </a:rPr>
              <a:t>确认电源已切断且周围环境安全后，尽快将触电者移离触电环境。</a:t>
            </a:r>
            <a:r>
              <a:rPr lang="zh-CN" altLang="en-US" sz="2000" dirty="0" smtClean="0">
                <a:latin typeface="+mn-ea"/>
                <a:sym typeface="+mn-ea"/>
              </a:rPr>
              <a:t>让</a:t>
            </a:r>
            <a:r>
              <a:rPr lang="zh-CN" altLang="en-US" sz="2000" dirty="0">
                <a:latin typeface="+mn-ea"/>
                <a:sym typeface="+mn-ea"/>
              </a:rPr>
              <a:t>触电</a:t>
            </a:r>
            <a:r>
              <a:rPr lang="zh-CN" altLang="en-US" sz="2000" dirty="0" smtClean="0">
                <a:latin typeface="+mn-ea"/>
                <a:sym typeface="+mn-ea"/>
              </a:rPr>
              <a:t>者在通风</a:t>
            </a:r>
            <a:r>
              <a:rPr lang="zh-CN" altLang="en-US" sz="2000" dirty="0">
                <a:latin typeface="+mn-ea"/>
                <a:sym typeface="+mn-ea"/>
              </a:rPr>
              <a:t>暖和</a:t>
            </a:r>
            <a:r>
              <a:rPr lang="zh-CN" altLang="en-US" sz="2000" dirty="0" smtClean="0">
                <a:latin typeface="+mn-ea"/>
                <a:sym typeface="+mn-ea"/>
              </a:rPr>
              <a:t>的场所</a:t>
            </a:r>
            <a:r>
              <a:rPr lang="zh-CN" altLang="en-US" sz="2000" dirty="0">
                <a:latin typeface="+mn-ea"/>
                <a:sym typeface="+mn-ea"/>
              </a:rPr>
              <a:t>静卧休息，根据触电者的身体特征，做好急救前的准备</a:t>
            </a:r>
            <a:r>
              <a:rPr lang="zh-CN" altLang="en-US" sz="2000" dirty="0" smtClean="0">
                <a:latin typeface="+mn-ea"/>
                <a:sym typeface="+mn-ea"/>
              </a:rPr>
              <a:t>工作。</a:t>
            </a:r>
            <a:endParaRPr lang="zh-CN" altLang="en-US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sym typeface="+mn-ea"/>
              </a:rPr>
              <a:t>4</a:t>
            </a:r>
            <a:r>
              <a:rPr lang="zh-CN" altLang="en-US" sz="2000" dirty="0" smtClean="0">
                <a:latin typeface="+mn-ea"/>
                <a:sym typeface="+mn-ea"/>
              </a:rPr>
              <a:t>、</a:t>
            </a:r>
            <a:r>
              <a:rPr lang="zh-CN" altLang="en-US" sz="2000" b="1" dirty="0" smtClean="0">
                <a:latin typeface="+mn-ea"/>
                <a:sym typeface="+mn-ea"/>
              </a:rPr>
              <a:t>急救：</a:t>
            </a:r>
            <a:r>
              <a:rPr lang="zh-CN" altLang="en-US" sz="2000" dirty="0" smtClean="0">
                <a:latin typeface="+mn-ea"/>
                <a:sym typeface="+mn-ea"/>
              </a:rPr>
              <a:t>如</a:t>
            </a:r>
            <a:r>
              <a:rPr lang="zh-CN" altLang="en-US" sz="2000" dirty="0">
                <a:latin typeface="+mn-ea"/>
                <a:sym typeface="+mn-ea"/>
              </a:rPr>
              <a:t>触电人触电已出现外伤，处理外伤不应影响抢救工作</a:t>
            </a:r>
            <a:r>
              <a:rPr lang="zh-CN" altLang="en-US" sz="2000" dirty="0" smtClean="0">
                <a:latin typeface="+mn-ea"/>
                <a:sym typeface="+mn-ea"/>
              </a:rPr>
              <a:t>。</a:t>
            </a:r>
            <a:r>
              <a:rPr lang="zh-CN" altLang="en-US" sz="2000" dirty="0">
                <a:latin typeface="+mn-ea"/>
                <a:sym typeface="+mn-ea"/>
              </a:rPr>
              <a:t>急救的同时，应尽快拨打</a:t>
            </a:r>
            <a:r>
              <a:rPr lang="en-US" altLang="zh-CN" sz="2000" dirty="0">
                <a:latin typeface="+mn-ea"/>
                <a:sym typeface="+mn-ea"/>
              </a:rPr>
              <a:t>120</a:t>
            </a:r>
            <a:r>
              <a:rPr lang="zh-CN" altLang="en-US" sz="2000" dirty="0">
                <a:latin typeface="+mn-ea"/>
                <a:sym typeface="+mn-ea"/>
              </a:rPr>
              <a:t>急救电话，请求专业医疗救援。</a:t>
            </a:r>
            <a:endParaRPr lang="zh-CN" altLang="en-US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  <a:sym typeface="+mn-ea"/>
              </a:rPr>
              <a:t>5</a:t>
            </a:r>
            <a:r>
              <a:rPr lang="zh-CN" altLang="en-US" sz="2000" dirty="0" smtClean="0">
                <a:latin typeface="+mn-ea"/>
                <a:sym typeface="+mn-ea"/>
              </a:rPr>
              <a:t>、</a:t>
            </a:r>
            <a:r>
              <a:rPr lang="zh-CN" altLang="en-US" sz="2000" b="1" dirty="0" smtClean="0">
                <a:latin typeface="+mn-ea"/>
                <a:sym typeface="+mn-ea"/>
              </a:rPr>
              <a:t>照明：</a:t>
            </a:r>
            <a:r>
              <a:rPr lang="zh-CN" altLang="en-US" sz="2000" dirty="0" smtClean="0">
                <a:latin typeface="+mn-ea"/>
                <a:sym typeface="+mn-ea"/>
              </a:rPr>
              <a:t>夜间</a:t>
            </a:r>
            <a:r>
              <a:rPr lang="zh-CN" altLang="en-US" sz="2000" dirty="0">
                <a:latin typeface="+mn-ea"/>
                <a:sym typeface="+mn-ea"/>
              </a:rPr>
              <a:t>有人触电，急救时应解决临时照明问题。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RkNTViM2U3YzIwYTFhMTEyZDFjYTAyYTU4OWEwYmIifQ=="/>
  <p:tag name="commondata" val="eyJoZGlkIjoiOTE1YjFlMTU4NWY2ZDViYTAxMzliMzFkODY0MDVlO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535</Words>
  <Application>Microsoft Office PowerPoint</Application>
  <PresentationFormat>自定义</PresentationFormat>
  <Paragraphs>23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Office 主题</vt:lpstr>
      <vt:lpstr>低压触电脱离电源方法及注意事项：</vt:lpstr>
      <vt:lpstr>低压触电脱离电源方法及注意事项：</vt:lpstr>
      <vt:lpstr>高压触电脱离电源方法及注意事项：</vt:lpstr>
      <vt:lpstr>高压触电脱离电源方法及注意事项：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低压电工作业实操培训</dc:title>
  <dc:creator>dingxh</dc:creator>
  <cp:lastModifiedBy>dxh</cp:lastModifiedBy>
  <cp:revision>33</cp:revision>
  <dcterms:created xsi:type="dcterms:W3CDTF">2022-04-11T00:41:00Z</dcterms:created>
  <dcterms:modified xsi:type="dcterms:W3CDTF">2026-01-22T03:03:44Z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B975F30445054ECFB916CB62BCCDA156_13</vt:lpwstr>
  </property>
  <property fmtid="{D5CDD505-2E9C-101B-9397-08002B2CF9AE}" pid="3" name="KSOProductBuildVer">
    <vt:lpwstr>2052-12.1.0.15990</vt:lpwstr>
  </property>
</Properties>
</file>